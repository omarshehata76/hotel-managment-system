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3" r:id="rId3"/>
    <p:sldId id="257" r:id="rId4"/>
    <p:sldId id="258" r:id="rId5"/>
    <p:sldId id="260" r:id="rId6"/>
    <p:sldId id="261" r:id="rId7"/>
    <p:sldId id="262" r:id="rId8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76" autoAdjust="0"/>
    <p:restoredTop sz="95084" autoAdjust="0"/>
  </p:normalViewPr>
  <p:slideViewPr>
    <p:cSldViewPr>
      <p:cViewPr varScale="1">
        <p:scale>
          <a:sx n="57" d="100"/>
          <a:sy n="57" d="100"/>
        </p:scale>
        <p:origin x="64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2AA1FD-13D6-8309-C7E5-9239DB625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200523"/>
              </p:ext>
            </p:extLst>
          </p:nvPr>
        </p:nvGraphicFramePr>
        <p:xfrm>
          <a:off x="0" y="0"/>
          <a:ext cx="7772400" cy="10058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778846">
                  <a:extLst>
                    <a:ext uri="{9D8B030D-6E8A-4147-A177-3AD203B41FA5}">
                      <a16:colId xmlns:a16="http://schemas.microsoft.com/office/drawing/2014/main" val="749187850"/>
                    </a:ext>
                  </a:extLst>
                </a:gridCol>
                <a:gridCol w="3993554">
                  <a:extLst>
                    <a:ext uri="{9D8B030D-6E8A-4147-A177-3AD203B41FA5}">
                      <a16:colId xmlns:a16="http://schemas.microsoft.com/office/drawing/2014/main" val="4262251181"/>
                    </a:ext>
                  </a:extLst>
                </a:gridCol>
              </a:tblGrid>
              <a:tr h="652459">
                <a:tc gridSpan="2"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Documentation</a:t>
                      </a:r>
                      <a:endParaRPr lang="en-US" sz="3600" b="1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088808"/>
                  </a:ext>
                </a:extLst>
              </a:tr>
              <a:tr h="4101169">
                <a:tc>
                  <a:txBody>
                    <a:bodyPr/>
                    <a:lstStyle/>
                    <a:p>
                      <a:pPr marL="342900" marR="0" lvl="0" indent="-34290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endParaRPr lang="en-US" sz="1800" b="1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dk1"/>
                          </a:solidFill>
                          <a:effectLst/>
                        </a:rPr>
                        <a:t>Introduction</a:t>
                      </a:r>
                      <a:endParaRPr lang="en-US" sz="1800" b="1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r>
                        <a:rPr lang="en-US" sz="2000" b="0" dirty="0"/>
                        <a:t>This project is a Hotel Management System that allows</a:t>
                      </a:r>
                      <a:endParaRPr lang="ar-EG" sz="2000" b="0" dirty="0"/>
                    </a:p>
                    <a:p>
                      <a:r>
                        <a:rPr lang="en-US" sz="2000" b="0" dirty="0"/>
                        <a:t> </a:t>
                      </a:r>
                      <a:endParaRPr lang="ar-EG" sz="2000" b="0" dirty="0"/>
                    </a:p>
                    <a:p>
                      <a:r>
                        <a:rPr lang="en-US" sz="2000" b="0" dirty="0"/>
                        <a:t>guests to book rooms, modify or cancel reservations, and </a:t>
                      </a:r>
                      <a:endParaRPr lang="ar-EG" sz="2000" b="0" dirty="0"/>
                    </a:p>
                    <a:p>
                      <a:endParaRPr lang="ar-EG" sz="2000" b="0" dirty="0"/>
                    </a:p>
                    <a:p>
                      <a:r>
                        <a:rPr lang="en-US" sz="2000" b="0" dirty="0"/>
                        <a:t>make payments. It also enables</a:t>
                      </a:r>
                      <a:endParaRPr lang="ar-EG" sz="2000" b="0" dirty="0"/>
                    </a:p>
                    <a:p>
                      <a:endParaRPr lang="ar-EG" sz="2000" b="0" dirty="0"/>
                    </a:p>
                    <a:p>
                      <a:r>
                        <a:rPr lang="en-US" sz="2000" b="0" dirty="0"/>
                        <a:t> the admin to manage rooms </a:t>
                      </a:r>
                      <a:endParaRPr lang="ar-EG" sz="2000" b="0" dirty="0"/>
                    </a:p>
                    <a:p>
                      <a:r>
                        <a:rPr lang="en-US" sz="2000" b="0" dirty="0"/>
                        <a:t>and monitor bookings.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sz="2400" b="1" dirty="0">
                          <a:solidFill>
                            <a:schemeClr val="dk1"/>
                          </a:solidFill>
                          <a:effectLst/>
                        </a:rPr>
                        <a:t>Objectives</a:t>
                      </a:r>
                      <a:endParaRPr lang="en-US" sz="1800" b="1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endParaRPr lang="en-US" dirty="0"/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</a:t>
                      </a:r>
                      <a:r>
                        <a:rPr lang="en-US" sz="2000" b="0" dirty="0"/>
                        <a:t>Make room booking easier for guests.</a:t>
                      </a:r>
                      <a:endParaRPr lang="ar-EG" sz="2000" b="0" dirty="0"/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</a:br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</a:t>
                      </a:r>
                      <a:r>
                        <a:rPr lang="en-US" sz="2000" b="0" dirty="0"/>
                        <a:t>Organize and manage room and booking data.</a:t>
                      </a:r>
                      <a:endParaRPr lang="ar-EG" sz="2000" b="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</a:t>
                      </a:r>
                      <a:r>
                        <a:rPr lang="en-US" sz="2000" b="0" dirty="0"/>
                        <a:t>Provide a simple and secure payment process.</a:t>
                      </a:r>
                      <a:endParaRPr lang="en-US" sz="2000" b="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</a:t>
                      </a:r>
                      <a:r>
                        <a:rPr lang="en-US" sz="2000" b="0" dirty="0"/>
                        <a:t>Help the admin manage the hotel more efficiently.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590435"/>
                  </a:ext>
                </a:extLst>
              </a:tr>
              <a:tr h="5304772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dk1"/>
                          </a:solidFill>
                          <a:effectLst/>
                        </a:rPr>
                        <a:t>Functional Requirements</a:t>
                      </a:r>
                      <a:endParaRPr lang="en-US" sz="24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endParaRPr lang="en-US" dirty="0"/>
                    </a:p>
                    <a:p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User can register/login</a:t>
                      </a:r>
                      <a:b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</a:br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View available rooms and room details.</a:t>
                      </a:r>
                      <a:b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</a:br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Create a booking.</a:t>
                      </a:r>
                    </a:p>
                    <a:p>
                      <a:pPr lvl="0"/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Edit or cancel a booking</a:t>
                      </a:r>
                      <a:r>
                        <a:rPr lang="en-US" sz="2000" b="1" dirty="0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endParaRPr lang="ar-EG" sz="2000" b="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Payment (Cash / Credit Card).</a:t>
                      </a:r>
                      <a:endParaRPr lang="ar-EG" sz="2000" b="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Admin: Add / Update / Remove rooms.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Admin: View and monitor all bookings.</a:t>
                      </a:r>
                      <a:endParaRPr lang="ar-EG" sz="2000" b="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System generates receipts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1800" b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dk1"/>
                          </a:solidFill>
                          <a:effectLst/>
                        </a:rPr>
                        <a:t>Non-Functional Requirements</a:t>
                      </a:r>
                      <a:endParaRPr lang="en-US" sz="24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endParaRPr lang="en-US" dirty="0"/>
                    </a:p>
                    <a:p>
                      <a:pPr lvl="0"/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Usability: Easy and simple user interface.</a:t>
                      </a:r>
                    </a:p>
                    <a:p>
                      <a:pPr lvl="0"/>
                      <a:endParaRPr lang="en-US" sz="2000" b="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vl="0"/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Performance: Fast response when loading rooms and bookings.</a:t>
                      </a:r>
                    </a:p>
                    <a:p>
                      <a:pPr lvl="0"/>
                      <a:endParaRPr lang="en-US" sz="2000" b="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vl="0"/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Security: Protect user accounts and booking data.</a:t>
                      </a:r>
                    </a:p>
                    <a:p>
                      <a:pPr lvl="0"/>
                      <a:endParaRPr lang="en-US" sz="2000" b="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vl="0"/>
                      <a:r>
                        <a:rPr lang="en-US" sz="2000" b="0" dirty="0">
                          <a:solidFill>
                            <a:schemeClr val="dk1"/>
                          </a:solidFill>
                          <a:effectLst/>
                        </a:rPr>
                        <a:t>• Reliability: System works consistently with minimal errors.</a:t>
                      </a:r>
                    </a:p>
                    <a:p>
                      <a:pPr lvl="0"/>
                      <a:endParaRPr lang="en-US" sz="1800" b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93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224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178D85-C119-22DD-51B6-D3A3FAA95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4232"/>
            <a:ext cx="7772400" cy="480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9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3B9B95-ECA1-B12F-3AFC-63D35F20B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951616"/>
              </p:ext>
            </p:extLst>
          </p:nvPr>
        </p:nvGraphicFramePr>
        <p:xfrm>
          <a:off x="1" y="0"/>
          <a:ext cx="7772399" cy="10058400"/>
        </p:xfrm>
        <a:graphic>
          <a:graphicData uri="http://schemas.openxmlformats.org/drawingml/2006/table">
            <a:tbl>
              <a:tblPr firstRow="1" bandRow="1"/>
              <a:tblGrid>
                <a:gridCol w="2582799">
                  <a:extLst>
                    <a:ext uri="{9D8B030D-6E8A-4147-A177-3AD203B41FA5}">
                      <a16:colId xmlns:a16="http://schemas.microsoft.com/office/drawing/2014/main" val="702452608"/>
                    </a:ext>
                  </a:extLst>
                </a:gridCol>
                <a:gridCol w="2594800">
                  <a:extLst>
                    <a:ext uri="{9D8B030D-6E8A-4147-A177-3AD203B41FA5}">
                      <a16:colId xmlns:a16="http://schemas.microsoft.com/office/drawing/2014/main" val="3759157195"/>
                    </a:ext>
                  </a:extLst>
                </a:gridCol>
                <a:gridCol w="2594800">
                  <a:extLst>
                    <a:ext uri="{9D8B030D-6E8A-4147-A177-3AD203B41FA5}">
                      <a16:colId xmlns:a16="http://schemas.microsoft.com/office/drawing/2014/main" val="3029855305"/>
                    </a:ext>
                  </a:extLst>
                </a:gridCol>
              </a:tblGrid>
              <a:tr h="53644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 case name: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Login</a:t>
                      </a:r>
                      <a:endParaRPr lang="en-US" sz="1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643897"/>
                  </a:ext>
                </a:extLst>
              </a:tr>
              <a:tr h="938784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Scenario: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Guest enters email &amp; password to access the hotel system.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420058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Triggering event:</a:t>
                      </a:r>
                      <a:endParaRPr lang="en-US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eaLnBrk="1" fontAlgn="auto" latinLnBrk="0" hangingPunct="1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User wants to log into their account.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171184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Brief description:</a:t>
                      </a:r>
                      <a:endParaRPr lang="en-US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eaLnBrk="1" fontAlgn="auto" latinLnBrk="0" hangingPunct="1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User provides login credentials; the system checks validity and grants access or returns an error.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462007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Actors:</a:t>
                      </a:r>
                      <a:endParaRPr lang="en-US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eaLnBrk="1" fontAlgn="auto" latinLnBrk="0" hangingPunct="1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Guest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430633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Related use cases:</a:t>
                      </a:r>
                      <a:endParaRPr lang="en-US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eaLnBrk="1" fontAlgn="auto" latinLnBrk="0" hangingPunct="1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Sign Up (if user has no account)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795495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Stakeholders:</a:t>
                      </a:r>
                      <a:endParaRPr lang="en-US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eaLnBrk="1" fontAlgn="auto" latinLnBrk="0" hangingPunct="1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Guest, Hotel Management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477694"/>
                  </a:ext>
                </a:extLst>
              </a:tr>
              <a:tr h="938784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Preconditions:</a:t>
                      </a:r>
                      <a:endParaRPr lang="en-US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eaLnBrk="1" fontAlgn="auto" latinLnBrk="0" hangingPunct="1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User must already have an account</a:t>
                      </a:r>
                      <a:b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System must be online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598043"/>
                  </a:ext>
                </a:extLst>
              </a:tr>
              <a:tr h="938784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Postconditions:</a:t>
                      </a:r>
                      <a:endParaRPr lang="en-US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eaLnBrk="1" fontAlgn="auto" latinLnBrk="0" hangingPunct="1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User is logged in</a:t>
                      </a:r>
                      <a:b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Session is created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830710"/>
                  </a:ext>
                </a:extLst>
              </a:tr>
              <a:tr h="536448">
                <a:tc rowSpan="2"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Flow of activities: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Actor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System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197827"/>
                  </a:ext>
                </a:extLst>
              </a:tr>
              <a:tr h="17434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l" fontAlgn="t">
                        <a:buClrTx/>
                        <a:buSzPts val="1800"/>
                        <a:buFont typeface="Arial" panose="020B0604020202020204" pitchFamily="34" charset="0"/>
                        <a:buAutoNum type="arabicPeriod"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Enters email &amp; password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7472" indent="-347472" algn="l" fontAlgn="t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Clicks login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 Validates credentials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algn="l" fontAlgn="t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 Opens user dashboard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701829"/>
                  </a:ext>
                </a:extLst>
              </a:tr>
              <a:tr h="938784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Exception conditions: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Invalid email or password</a:t>
                      </a:r>
                      <a:b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Account not found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887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173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8CB43C-C6C9-A300-45C4-16F0A84B0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69704"/>
              </p:ext>
            </p:extLst>
          </p:nvPr>
        </p:nvGraphicFramePr>
        <p:xfrm>
          <a:off x="0" y="0"/>
          <a:ext cx="7772400" cy="10058401"/>
        </p:xfrm>
        <a:graphic>
          <a:graphicData uri="http://schemas.openxmlformats.org/drawingml/2006/table">
            <a:tbl>
              <a:tblPr firstRow="1" bandRow="1"/>
              <a:tblGrid>
                <a:gridCol w="1943100">
                  <a:extLst>
                    <a:ext uri="{9D8B030D-6E8A-4147-A177-3AD203B41FA5}">
                      <a16:colId xmlns:a16="http://schemas.microsoft.com/office/drawing/2014/main" val="100848996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2153009667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1171017783"/>
                    </a:ext>
                  </a:extLst>
                </a:gridCol>
              </a:tblGrid>
              <a:tr h="555902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 case name: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800" b="1" i="1" u="none" strike="noStrike" dirty="0">
                          <a:effectLst/>
                          <a:latin typeface="Arial" panose="020B0604020202020204" pitchFamily="34" charset="0"/>
                        </a:rPr>
                        <a:t>Sign Up 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772018"/>
                  </a:ext>
                </a:extLst>
              </a:tr>
              <a:tr h="717707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Scenario: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creates a new account.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69620"/>
                  </a:ext>
                </a:extLst>
              </a:tr>
              <a:tr h="56965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Triggering event: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Guest wants to sign up.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057449"/>
                  </a:ext>
                </a:extLst>
              </a:tr>
              <a:tr h="801689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Brief description: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Guest enters full name, email, password; system stores user data.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77093"/>
                  </a:ext>
                </a:extLst>
              </a:tr>
              <a:tr h="555902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Actors: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eaLnBrk="1" fontAlgn="auto" latinLnBrk="0" hangingPunct="1"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Arial" panose="020B0604020202020204" pitchFamily="34" charset="0"/>
                        </a:rPr>
                        <a:t>Guest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655428"/>
                  </a:ext>
                </a:extLst>
              </a:tr>
              <a:tr h="555902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Related use cases: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053710"/>
                  </a:ext>
                </a:extLst>
              </a:tr>
              <a:tr h="1020582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Stakeholders:</a:t>
                      </a:r>
                      <a:endParaRPr lang="en-US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• Guest</a:t>
                      </a:r>
                      <a:br>
                        <a:rPr lang="en-US" dirty="0"/>
                      </a:br>
                      <a:r>
                        <a:rPr lang="en-US" dirty="0"/>
                        <a:t>• Hotel System Administrators (database stored safely)</a:t>
                      </a:r>
                      <a:endParaRPr lang="ar-EG" dirty="0"/>
                    </a:p>
                    <a:p>
                      <a:endParaRPr lang="en-US" dirty="0"/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395714"/>
                  </a:ext>
                </a:extLst>
              </a:tr>
              <a:tr h="972826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Preconditions: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Email is not already registered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047801"/>
                  </a:ext>
                </a:extLst>
              </a:tr>
              <a:tr h="972826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Postconditions: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New account created</a:t>
                      </a:r>
                      <a:br>
                        <a:rPr lang="en-US" sz="18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User can now log in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69512"/>
                  </a:ext>
                </a:extLst>
              </a:tr>
              <a:tr h="555902">
                <a:tc rowSpan="2"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Flow of activities: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0" i="0" u="none" strike="noStrike">
                          <a:effectLst/>
                          <a:latin typeface="Arial" panose="020B0604020202020204" pitchFamily="34" charset="0"/>
                        </a:rPr>
                        <a:t>Actor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0" i="0" u="none" strike="noStrike">
                          <a:effectLst/>
                          <a:latin typeface="Arial" panose="020B0604020202020204" pitchFamily="34" charset="0"/>
                        </a:rPr>
                        <a:t>System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56855"/>
                  </a:ext>
                </a:extLst>
              </a:tr>
              <a:tr h="18066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t">
                        <a:buClrTx/>
                        <a:buSzPts val="1800"/>
                        <a:buFont typeface="Arial" panose="020B0604020202020204" pitchFamily="34" charset="0"/>
                        <a:buNone/>
                      </a:pPr>
                      <a:r>
                        <a:rPr lang="ar-EG" sz="18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Enters required personal info</a:t>
                      </a:r>
                      <a:endParaRPr lang="ar-EG" sz="1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fontAlgn="t">
                        <a:buClrTx/>
                        <a:buSzPts val="1800"/>
                        <a:buFont typeface="Arial" panose="020B0604020202020204" pitchFamily="34" charset="0"/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Clicks Register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t">
                        <a:buAutoNum type="arabicPeriod"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Validates info</a:t>
                      </a: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Creates new account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625289"/>
                  </a:ext>
                </a:extLst>
              </a:tr>
              <a:tr h="972826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Exception conditions: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Email already exists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Invalid input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876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617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63897F-7820-8D53-8004-53F852402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614856"/>
              </p:ext>
            </p:extLst>
          </p:nvPr>
        </p:nvGraphicFramePr>
        <p:xfrm>
          <a:off x="0" y="0"/>
          <a:ext cx="7772400" cy="10058399"/>
        </p:xfrm>
        <a:graphic>
          <a:graphicData uri="http://schemas.openxmlformats.org/drawingml/2006/table">
            <a:tbl>
              <a:tblPr firstRow="1" bandRow="1"/>
              <a:tblGrid>
                <a:gridCol w="2582798">
                  <a:extLst>
                    <a:ext uri="{9D8B030D-6E8A-4147-A177-3AD203B41FA5}">
                      <a16:colId xmlns:a16="http://schemas.microsoft.com/office/drawing/2014/main" val="100848996"/>
                    </a:ext>
                  </a:extLst>
                </a:gridCol>
                <a:gridCol w="2555979">
                  <a:extLst>
                    <a:ext uri="{9D8B030D-6E8A-4147-A177-3AD203B41FA5}">
                      <a16:colId xmlns:a16="http://schemas.microsoft.com/office/drawing/2014/main" val="2153009667"/>
                    </a:ext>
                  </a:extLst>
                </a:gridCol>
                <a:gridCol w="2633623">
                  <a:extLst>
                    <a:ext uri="{9D8B030D-6E8A-4147-A177-3AD203B41FA5}">
                      <a16:colId xmlns:a16="http://schemas.microsoft.com/office/drawing/2014/main" val="1171017783"/>
                    </a:ext>
                  </a:extLst>
                </a:gridCol>
              </a:tblGrid>
              <a:tr h="672826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 case name: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View Room Details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772018"/>
                  </a:ext>
                </a:extLst>
              </a:tr>
              <a:tr h="868662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Scenario: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views room information before booking.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69620"/>
                  </a:ext>
                </a:extLst>
              </a:tr>
              <a:tr h="689475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Triggering event: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clicks on a room or "View Details".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057449"/>
                  </a:ext>
                </a:extLst>
              </a:tr>
              <a:tr h="660510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Brief description: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 displays images, price, available dates, and features.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77093"/>
                  </a:ext>
                </a:extLst>
              </a:tr>
              <a:tr h="672826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Actors: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eaLnBrk="1" fontAlgn="auto" latinLnBrk="0" hangingPunct="1"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Arial" panose="020B0604020202020204" pitchFamily="34" charset="0"/>
                        </a:rPr>
                        <a:t>Guest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655428"/>
                  </a:ext>
                </a:extLst>
              </a:tr>
              <a:tr h="672826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Related use cases: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 Room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053710"/>
                  </a:ext>
                </a:extLst>
              </a:tr>
              <a:tr h="1607004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Stakeholders:</a:t>
                      </a:r>
                      <a:endParaRPr lang="en-US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• Guest</a:t>
                      </a:r>
                      <a:br>
                        <a:rPr lang="en-US" dirty="0"/>
                      </a:br>
                      <a:r>
                        <a:rPr lang="en-US" dirty="0"/>
                        <a:t>• Hotel Management</a:t>
                      </a:r>
                      <a:br>
                        <a:rPr lang="en-US" dirty="0"/>
                      </a:br>
                      <a:r>
                        <a:rPr lang="en-US" dirty="0"/>
                        <a:t>• Receptionist (may verify booking later)</a:t>
                      </a:r>
                      <a:endParaRPr lang="ar-EG" sz="1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395714"/>
                  </a:ext>
                </a:extLst>
              </a:tr>
              <a:tr h="661687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Preconditions: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Rooms must exist in the database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047801"/>
                  </a:ext>
                </a:extLst>
              </a:tr>
              <a:tr h="72344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Postconditions: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Room information displayed successfully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69512"/>
                  </a:ext>
                </a:extLst>
              </a:tr>
              <a:tr h="672826">
                <a:tc rowSpan="2"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Flow of activities: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Arial" panose="020B0604020202020204" pitchFamily="34" charset="0"/>
                        </a:rPr>
                        <a:t>Actor</a:t>
                      </a:r>
                    </a:p>
                  </a:txBody>
                  <a:tcPr marL="88519" marR="88519" marT="44259" marB="44259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Arial" panose="020B0604020202020204" pitchFamily="34" charset="0"/>
                        </a:rPr>
                        <a:t>System</a:t>
                      </a:r>
                    </a:p>
                  </a:txBody>
                  <a:tcPr marL="88519" marR="88519" marT="44259" marB="44259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56855"/>
                  </a:ext>
                </a:extLst>
              </a:tr>
              <a:tr h="9788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t">
                        <a:buClrTx/>
                        <a:buSzPts val="1800"/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Selects a room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full room details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625289"/>
                  </a:ext>
                </a:extLst>
              </a:tr>
              <a:tr h="1177442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Exception conditions: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Room not found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Server error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876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5278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1BCC69-5E7A-9B2E-7EF4-DAEA11DB9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73282"/>
              </p:ext>
            </p:extLst>
          </p:nvPr>
        </p:nvGraphicFramePr>
        <p:xfrm>
          <a:off x="-17930" y="0"/>
          <a:ext cx="7790329" cy="10058400"/>
        </p:xfrm>
        <a:graphic>
          <a:graphicData uri="http://schemas.openxmlformats.org/drawingml/2006/table">
            <a:tbl>
              <a:tblPr firstRow="1" bandRow="1"/>
              <a:tblGrid>
                <a:gridCol w="2588757">
                  <a:extLst>
                    <a:ext uri="{9D8B030D-6E8A-4147-A177-3AD203B41FA5}">
                      <a16:colId xmlns:a16="http://schemas.microsoft.com/office/drawing/2014/main" val="100848996"/>
                    </a:ext>
                  </a:extLst>
                </a:gridCol>
                <a:gridCol w="2722831">
                  <a:extLst>
                    <a:ext uri="{9D8B030D-6E8A-4147-A177-3AD203B41FA5}">
                      <a16:colId xmlns:a16="http://schemas.microsoft.com/office/drawing/2014/main" val="2153009667"/>
                    </a:ext>
                  </a:extLst>
                </a:gridCol>
                <a:gridCol w="2478741">
                  <a:extLst>
                    <a:ext uri="{9D8B030D-6E8A-4147-A177-3AD203B41FA5}">
                      <a16:colId xmlns:a16="http://schemas.microsoft.com/office/drawing/2014/main" val="1171017783"/>
                    </a:ext>
                  </a:extLst>
                </a:gridCol>
              </a:tblGrid>
              <a:tr h="553483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 case name: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 Room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772018"/>
                  </a:ext>
                </a:extLst>
              </a:tr>
              <a:tr h="714581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Scenario: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Guest reserves a room.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69620"/>
                  </a:ext>
                </a:extLst>
              </a:tr>
              <a:tr h="56717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Triggering event: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clicks "Book Now".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057449"/>
                  </a:ext>
                </a:extLst>
              </a:tr>
              <a:tr h="798200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Brief description: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Guest enters booking dates, number of guests; system checks availability then reserves the room.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77093"/>
                  </a:ext>
                </a:extLst>
              </a:tr>
              <a:tr h="553483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Actors: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eaLnBrk="1" fontAlgn="auto" latinLnBrk="0" hangingPunct="1"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Arial" panose="020B0604020202020204" pitchFamily="34" charset="0"/>
                        </a:rPr>
                        <a:t>Guest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655428"/>
                  </a:ext>
                </a:extLst>
              </a:tr>
              <a:tr h="1016139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Related use cases: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View Room Details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Make Payment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View Receipt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053710"/>
                  </a:ext>
                </a:extLst>
              </a:tr>
              <a:tr h="132195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Stakeholders: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• Guest</a:t>
                      </a:r>
                      <a:br>
                        <a:rPr lang="en-US" dirty="0"/>
                      </a:br>
                      <a:r>
                        <a:rPr lang="en-US" dirty="0"/>
                        <a:t>• Hotel Management</a:t>
                      </a:r>
                      <a:br>
                        <a:rPr lang="en-US" dirty="0"/>
                      </a:br>
                      <a:r>
                        <a:rPr lang="en-US" dirty="0"/>
                        <a:t>• Receptionist (may verify booking later)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395714"/>
                  </a:ext>
                </a:extLst>
              </a:tr>
              <a:tr h="968591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Preconditions: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User must be logged in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Room must be available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047801"/>
                  </a:ext>
                </a:extLst>
              </a:tr>
              <a:tr h="968591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Postconditions: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Booking created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User proceeds to payment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69512"/>
                  </a:ext>
                </a:extLst>
              </a:tr>
              <a:tr h="553483">
                <a:tc rowSpan="2"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Flow of activities: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Arial" panose="020B0604020202020204" pitchFamily="34" charset="0"/>
                        </a:rPr>
                        <a:t>Actor</a:t>
                      </a:r>
                    </a:p>
                  </a:txBody>
                  <a:tcPr marL="88519" marR="88519" marT="44259" marB="44259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Arial" panose="020B0604020202020204" pitchFamily="34" charset="0"/>
                        </a:rPr>
                        <a:t>System</a:t>
                      </a:r>
                    </a:p>
                  </a:txBody>
                  <a:tcPr marL="88519" marR="88519" marT="44259" marB="44259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56855"/>
                  </a:ext>
                </a:extLst>
              </a:tr>
              <a:tr h="10265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 fontAlgn="t">
                        <a:buClrTx/>
                        <a:buSzPts val="1800"/>
                        <a:buFont typeface="Arial" panose="020B0604020202020204" pitchFamily="34" charset="0"/>
                        <a:buAutoNum type="arabicPeriod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Selects check-in &amp; check-out</a:t>
                      </a:r>
                      <a:endParaRPr lang="en-US" sz="1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342900" indent="-342900" algn="l" fontAlgn="t">
                        <a:buClrTx/>
                        <a:buSzPts val="1800"/>
                        <a:buFont typeface="Arial" panose="020B0604020202020204" pitchFamily="34" charset="0"/>
                        <a:buAutoNum type="arabicPeriod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Confirms booking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t">
                        <a:buAutoNum type="arabicPeriod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Checks availability</a:t>
                      </a:r>
                      <a:endParaRPr lang="en-US" sz="1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Creates booking record</a:t>
                      </a: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625289"/>
                  </a:ext>
                </a:extLst>
              </a:tr>
              <a:tr h="1016139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Exception conditions: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Room unavailable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Invalid dates</a:t>
                      </a:r>
                    </a:p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519" marR="88519" marT="44259" marB="442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876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860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0F3CAD-4BA1-05C5-3F1A-453CCB6DF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579279"/>
              </p:ext>
            </p:extLst>
          </p:nvPr>
        </p:nvGraphicFramePr>
        <p:xfrm>
          <a:off x="1" y="0"/>
          <a:ext cx="7772400" cy="10058400"/>
        </p:xfrm>
        <a:graphic>
          <a:graphicData uri="http://schemas.openxmlformats.org/drawingml/2006/table">
            <a:tbl>
              <a:tblPr firstRow="1" bandRow="1"/>
              <a:tblGrid>
                <a:gridCol w="2293173">
                  <a:extLst>
                    <a:ext uri="{9D8B030D-6E8A-4147-A177-3AD203B41FA5}">
                      <a16:colId xmlns:a16="http://schemas.microsoft.com/office/drawing/2014/main" val="2900954013"/>
                    </a:ext>
                  </a:extLst>
                </a:gridCol>
                <a:gridCol w="2827085">
                  <a:extLst>
                    <a:ext uri="{9D8B030D-6E8A-4147-A177-3AD203B41FA5}">
                      <a16:colId xmlns:a16="http://schemas.microsoft.com/office/drawing/2014/main" val="880407549"/>
                    </a:ext>
                  </a:extLst>
                </a:gridCol>
                <a:gridCol w="2652142">
                  <a:extLst>
                    <a:ext uri="{9D8B030D-6E8A-4147-A177-3AD203B41FA5}">
                      <a16:colId xmlns:a16="http://schemas.microsoft.com/office/drawing/2014/main" val="3708813044"/>
                    </a:ext>
                  </a:extLst>
                </a:gridCol>
              </a:tblGrid>
              <a:tr h="52415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 case name: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1" u="none" strike="noStrike" dirty="0">
                          <a:effectLst/>
                          <a:latin typeface="Arial" panose="020B0604020202020204" pitchFamily="34" charset="0"/>
                        </a:rPr>
                        <a:t>Make Payment</a:t>
                      </a: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079298"/>
                  </a:ext>
                </a:extLst>
              </a:tr>
              <a:tr h="676751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Scenario: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Guest pays to confirm booking.</a:t>
                      </a: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70542"/>
                  </a:ext>
                </a:extLst>
              </a:tr>
              <a:tr h="537164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Triggering event: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selects payment method.</a:t>
                      </a: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59835"/>
                  </a:ext>
                </a:extLst>
              </a:tr>
              <a:tr h="1042147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Brief description: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pays using cash or credit card; system confirms payment.</a:t>
                      </a: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045744"/>
                  </a:ext>
                </a:extLst>
              </a:tr>
              <a:tr h="52415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Actors: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Guest, </a:t>
                      </a:r>
                      <a:r>
                        <a:rPr lang="en-US" dirty="0"/>
                        <a:t>Receptionis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(external actor)</a:t>
                      </a: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280586"/>
                  </a:ext>
                </a:extLst>
              </a:tr>
              <a:tr h="52415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Related use cases: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View Receipt</a:t>
                      </a: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404926"/>
                  </a:ext>
                </a:extLst>
              </a:tr>
              <a:tr h="1250169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Stakeholders: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• Guest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• Hotel Management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• Bank System (external payment processor)</a:t>
                      </a: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58419"/>
                  </a:ext>
                </a:extLst>
              </a:tr>
              <a:tr h="91730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Preconditions: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Booking exists and requires payment</a:t>
                      </a: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002358"/>
                  </a:ext>
                </a:extLst>
              </a:tr>
              <a:tr h="91730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Postconditions: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Payment completed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Booking becomes confirmed</a:t>
                      </a: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360148"/>
                  </a:ext>
                </a:extLst>
              </a:tr>
              <a:tr h="524158">
                <a:tc rowSpan="2"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Flow of activities: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Actor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System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623208"/>
                  </a:ext>
                </a:extLst>
              </a:tr>
              <a:tr h="17036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 fontAlgn="t">
                        <a:buAutoNum type="arabicPeriod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Selects cash/credit</a:t>
                      </a: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Enters credit info (if credit)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t">
                        <a:buAutoNum type="arabicPeriod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Verifies amount</a:t>
                      </a: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Sends request to bank</a:t>
                      </a: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Marks booking as paid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281645"/>
                  </a:ext>
                </a:extLst>
              </a:tr>
              <a:tr h="917308">
                <a:tc>
                  <a:txBody>
                    <a:bodyPr/>
                    <a:lstStyle/>
                    <a:p>
                      <a:pPr marL="0" algn="l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Exception conditions: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Card declined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Payment timeout</a:t>
                      </a:r>
                    </a:p>
                  </a:txBody>
                  <a:tcPr marL="66487" marR="66487" marT="33196" marB="3319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308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251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</TotalTime>
  <Words>793</Words>
  <Application>Microsoft Office PowerPoint</Application>
  <PresentationFormat>Custom</PresentationFormat>
  <Paragraphs>172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Omar Shahata Ismail Abdel Hamid Anani</dc:creator>
  <cp:lastModifiedBy>Ismail Shehata</cp:lastModifiedBy>
  <cp:revision>12</cp:revision>
  <dcterms:created xsi:type="dcterms:W3CDTF">2025-12-04T18:53:50Z</dcterms:created>
  <dcterms:modified xsi:type="dcterms:W3CDTF">2026-04-05T06:23:58Z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2025-12-04T00:00:00Z</vt:filetime>
  </property>
  <property fmtid="{D5CDD505-2E9C-101B-9397-08002B2CF9AE}" pid="5" name="Producer">
    <vt:lpwstr>www.ilovepdf.com</vt:lpwstr>
  </property>
</Properties>
</file>